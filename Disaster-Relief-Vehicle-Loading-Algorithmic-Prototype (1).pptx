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8288000" cy="10287000"/>
  <p:notesSz cx="6858000" cy="9144000"/>
  <p:embeddedFontLst>
    <p:embeddedFont>
      <p:font typeface="Petrona Bold"/>
      <p:bold r:id="rId15"/>
    </p:embeddedFont>
    <p:embeddedFont>
      <p:font typeface="Inter" panose="02000503000000020004"/>
      <p:regular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5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128905" y="114300"/>
            <a:ext cx="18009235" cy="10154285"/>
            <a:chOff x="-1250527" y="6907953"/>
            <a:chExt cx="24012313" cy="13539047"/>
          </a:xfrm>
        </p:grpSpPr>
        <p:sp>
          <p:nvSpPr>
            <p:cNvPr id="5" name="Freeform 5"/>
            <p:cNvSpPr/>
            <p:nvPr/>
          </p:nvSpPr>
          <p:spPr>
            <a:xfrm>
              <a:off x="-1250527" y="6907953"/>
              <a:ext cx="24012313" cy="13539047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  <p:txBody>
            <a:bodyPr/>
            <a:p>
              <a:r>
                <a:rPr lang="en-US" altLang="en-US" sz="2400" b="1">
                  <a:solidFill>
                    <a:schemeClr val="bg1"/>
                  </a:solidFill>
                </a:rPr>
                <a:t> </a:t>
              </a:r>
              <a:endParaRPr lang="en-US" altLang="en-US" sz="2400" b="1">
                <a:solidFill>
                  <a:schemeClr val="bg1"/>
                </a:solidFill>
              </a:endParaRPr>
            </a:p>
            <a:p>
              <a:endParaRPr lang="en-US" altLang="en-US" sz="2400" b="1">
                <a:solidFill>
                  <a:schemeClr val="bg1"/>
                </a:solidFill>
              </a:endParaRP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38051" y="1409624"/>
            <a:ext cx="16315868" cy="1900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sz="5855" b="1" spc="-117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Disaster Relief Vehicle Loading — Algorithmic Prototype</a:t>
            </a:r>
            <a:endParaRPr lang="en-US" sz="5855" b="1" spc="-117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38051" y="3924294"/>
            <a:ext cx="16315868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 concise, algorithm-focused presentation for hackathon judges: a prototype that selects relief items for limited-capacity vehicles, prioritizes essentials and vulnerable communities, and exposes algorithm decisions (0/1 Knapsack vs Greedy). Tech hints: Python + Flask + SQLite.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42315" y="6210300"/>
            <a:ext cx="6877685" cy="1489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sz="2800">
                <a:solidFill>
                  <a:schemeClr val="bg1"/>
                </a:solidFill>
              </a:rPr>
              <a:t>TEAM:</a:t>
            </a:r>
            <a:endParaRPr lang="en-US" sz="280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Kishor  R      -   25MVCSMR0075</a:t>
            </a:r>
            <a:endParaRPr lang="en-US" sz="240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Pradeep A   -   25MVCSMR0005</a:t>
            </a:r>
            <a:endParaRPr lang="en-US" sz="240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Sandeep T   -   25MVCSMR0083</a:t>
            </a:r>
            <a:endParaRPr lang="en-US" sz="240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Sridhar CH   -   25MVCSMR0018</a:t>
            </a:r>
            <a:endParaRPr lang="en-US" sz="2400">
              <a:solidFill>
                <a:schemeClr val="bg1"/>
              </a:solidFill>
            </a:endParaRPr>
          </a:p>
          <a:p>
            <a:endParaRPr lang="en-US" sz="24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440923"/>
            <a:ext cx="16315868" cy="78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655" b="1" spc="-94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The Challenge</a:t>
            </a:r>
            <a:endParaRPr lang="en-US" sz="4655" b="1" spc="-94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88219" y="2786605"/>
            <a:ext cx="647890" cy="647910"/>
            <a:chOff x="0" y="0"/>
            <a:chExt cx="863854" cy="86387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63854" cy="863854"/>
            </a:xfrm>
            <a:custGeom>
              <a:avLst/>
              <a:gdLst/>
              <a:ahLst/>
              <a:cxnLst/>
              <a:rect l="l" t="t" r="r" b="b"/>
              <a:pathLst>
                <a:path w="863854" h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2F1D63"/>
            </a:solidFill>
            <a:ln w="9532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915077" y="2869730"/>
            <a:ext cx="4280106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Real-world problem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15077" y="3448269"/>
            <a:ext cx="4280106" cy="2800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Distribute life-saving supplies from depots to affected zones using constrained vehicles. Each vehicle has a capacity limit (weight/volume) and each request has priority and value.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6545056" y="2786605"/>
            <a:ext cx="647890" cy="647910"/>
            <a:chOff x="0" y="0"/>
            <a:chExt cx="863854" cy="86387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63854" cy="863854"/>
            </a:xfrm>
            <a:custGeom>
              <a:avLst/>
              <a:gdLst/>
              <a:ahLst/>
              <a:cxnLst/>
              <a:rect l="l" t="t" r="r" b="b"/>
              <a:pathLst>
                <a:path w="863854" h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2F1D63"/>
            </a:solidFill>
            <a:ln w="9532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7471915" y="2869730"/>
            <a:ext cx="4280106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Why it matters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471915" y="3448269"/>
            <a:ext cx="4280106" cy="2346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Efficient packing increases reach and impact under time pressure — more people helped per trip, fewer wasted resources, faster response.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12101884" y="2786605"/>
            <a:ext cx="647890" cy="647910"/>
            <a:chOff x="0" y="0"/>
            <a:chExt cx="863854" cy="86387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63854" cy="863854"/>
            </a:xfrm>
            <a:custGeom>
              <a:avLst/>
              <a:gdLst/>
              <a:ahLst/>
              <a:cxnLst/>
              <a:rect l="l" t="t" r="r" b="b"/>
              <a:pathLst>
                <a:path w="863854" h="863854">
                  <a:moveTo>
                    <a:pt x="0" y="161290"/>
                  </a:moveTo>
                  <a:cubicBezTo>
                    <a:pt x="0" y="72263"/>
                    <a:pt x="72263" y="0"/>
                    <a:pt x="161290" y="0"/>
                  </a:cubicBezTo>
                  <a:lnTo>
                    <a:pt x="702564" y="0"/>
                  </a:lnTo>
                  <a:cubicBezTo>
                    <a:pt x="791591" y="0"/>
                    <a:pt x="863854" y="72263"/>
                    <a:pt x="863854" y="161290"/>
                  </a:cubicBezTo>
                  <a:lnTo>
                    <a:pt x="863854" y="702564"/>
                  </a:lnTo>
                  <a:cubicBezTo>
                    <a:pt x="863854" y="791591"/>
                    <a:pt x="791591" y="863854"/>
                    <a:pt x="702564" y="863854"/>
                  </a:cubicBezTo>
                  <a:lnTo>
                    <a:pt x="161290" y="863854"/>
                  </a:lnTo>
                  <a:cubicBezTo>
                    <a:pt x="72263" y="863854"/>
                    <a:pt x="0" y="791718"/>
                    <a:pt x="0" y="702564"/>
                  </a:cubicBezTo>
                  <a:close/>
                </a:path>
              </a:pathLst>
            </a:custGeom>
            <a:solidFill>
              <a:srgbClr val="2F1D63"/>
            </a:solidFill>
            <a:ln w="9532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3028743" y="2869730"/>
            <a:ext cx="4280106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Key challenges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3028743" y="3448269"/>
            <a:ext cx="4280106" cy="5367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Heterogeneous item sizes and values (medical kits, water, blankets)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Strict capacity limits per vehicle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Prioritization of vulnerable communities and essential goods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Font typeface="Arial" panose="020B0604020202020204"/>
              <a:buChar char="•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Explainability: decisions must be interpretable to coordinators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2218858"/>
            <a:ext cx="16315868" cy="78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655" b="1" spc="-94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Our Innovation — What we built</a:t>
            </a:r>
            <a:endParaRPr lang="en-US" sz="4655" b="1" spc="-94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73922" y="3550244"/>
            <a:ext cx="3904183" cy="4506906"/>
            <a:chOff x="0" y="0"/>
            <a:chExt cx="5205578" cy="600920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205603" cy="6009259"/>
            </a:xfrm>
            <a:custGeom>
              <a:avLst/>
              <a:gdLst/>
              <a:ahLst/>
              <a:cxnLst/>
              <a:rect l="l" t="t" r="r" b="b"/>
              <a:pathLst>
                <a:path w="5205603" h="6009259">
                  <a:moveTo>
                    <a:pt x="0" y="160528"/>
                  </a:moveTo>
                  <a:cubicBezTo>
                    <a:pt x="0" y="71882"/>
                    <a:pt x="71882" y="0"/>
                    <a:pt x="160528" y="0"/>
                  </a:cubicBezTo>
                  <a:lnTo>
                    <a:pt x="5045075" y="0"/>
                  </a:lnTo>
                  <a:cubicBezTo>
                    <a:pt x="5133721" y="0"/>
                    <a:pt x="5205603" y="71882"/>
                    <a:pt x="5205603" y="160528"/>
                  </a:cubicBezTo>
                  <a:lnTo>
                    <a:pt x="5205603" y="5848731"/>
                  </a:lnTo>
                  <a:cubicBezTo>
                    <a:pt x="5205603" y="5937377"/>
                    <a:pt x="5133721" y="6009259"/>
                    <a:pt x="5045075" y="6009259"/>
                  </a:cubicBezTo>
                  <a:lnTo>
                    <a:pt x="160528" y="6009259"/>
                  </a:lnTo>
                  <a:cubicBezTo>
                    <a:pt x="71882" y="6009259"/>
                    <a:pt x="0" y="5937377"/>
                    <a:pt x="0" y="5848731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  <a:ln w="38128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314850" y="3872122"/>
            <a:ext cx="3222336" cy="949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Transparent decision trace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14850" y="4916119"/>
            <a:ext cx="3222336" cy="2346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All item selections, intermediate states, and final packing lists are logged and exported for review.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5123717" y="3550244"/>
            <a:ext cx="3904336" cy="4506906"/>
            <a:chOff x="0" y="0"/>
            <a:chExt cx="5205781" cy="60092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205730" cy="6009132"/>
            </a:xfrm>
            <a:custGeom>
              <a:avLst/>
              <a:gdLst/>
              <a:ahLst/>
              <a:cxnLst/>
              <a:rect l="l" t="t" r="r" b="b"/>
              <a:pathLst>
                <a:path w="5205730" h="6009132">
                  <a:moveTo>
                    <a:pt x="0" y="160401"/>
                  </a:moveTo>
                  <a:cubicBezTo>
                    <a:pt x="0" y="71882"/>
                    <a:pt x="71882" y="0"/>
                    <a:pt x="160401" y="0"/>
                  </a:cubicBezTo>
                  <a:lnTo>
                    <a:pt x="5045329" y="0"/>
                  </a:lnTo>
                  <a:cubicBezTo>
                    <a:pt x="5133975" y="0"/>
                    <a:pt x="5205730" y="71882"/>
                    <a:pt x="5205730" y="160401"/>
                  </a:cubicBezTo>
                  <a:lnTo>
                    <a:pt x="5205730" y="5848731"/>
                  </a:lnTo>
                  <a:cubicBezTo>
                    <a:pt x="5205730" y="5937377"/>
                    <a:pt x="5133848" y="6009132"/>
                    <a:pt x="5045329" y="6009132"/>
                  </a:cubicBezTo>
                  <a:lnTo>
                    <a:pt x="160401" y="6009132"/>
                  </a:lnTo>
                  <a:cubicBezTo>
                    <a:pt x="71882" y="6009259"/>
                    <a:pt x="0" y="5937377"/>
                    <a:pt x="0" y="5848731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  <a:ln w="38128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5464635" y="3872122"/>
            <a:ext cx="3222479" cy="949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Dual-algorithm prototype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464635" y="4916119"/>
            <a:ext cx="3222479" cy="2346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Implement both 0/1 Knapsack (optimal) and Greedy (fast heuristic) with side-by-side comparison and metrics.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9273645" y="3550244"/>
            <a:ext cx="3904336" cy="4506906"/>
            <a:chOff x="0" y="0"/>
            <a:chExt cx="5205781" cy="600920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205730" cy="6009132"/>
            </a:xfrm>
            <a:custGeom>
              <a:avLst/>
              <a:gdLst/>
              <a:ahLst/>
              <a:cxnLst/>
              <a:rect l="l" t="t" r="r" b="b"/>
              <a:pathLst>
                <a:path w="5205730" h="6009132">
                  <a:moveTo>
                    <a:pt x="0" y="160401"/>
                  </a:moveTo>
                  <a:cubicBezTo>
                    <a:pt x="0" y="71882"/>
                    <a:pt x="71882" y="0"/>
                    <a:pt x="160401" y="0"/>
                  </a:cubicBezTo>
                  <a:lnTo>
                    <a:pt x="5045329" y="0"/>
                  </a:lnTo>
                  <a:cubicBezTo>
                    <a:pt x="5133975" y="0"/>
                    <a:pt x="5205730" y="71882"/>
                    <a:pt x="5205730" y="160401"/>
                  </a:cubicBezTo>
                  <a:lnTo>
                    <a:pt x="5205730" y="5848731"/>
                  </a:lnTo>
                  <a:cubicBezTo>
                    <a:pt x="5205730" y="5937377"/>
                    <a:pt x="5133848" y="6009132"/>
                    <a:pt x="5045329" y="6009132"/>
                  </a:cubicBezTo>
                  <a:lnTo>
                    <a:pt x="160401" y="6009132"/>
                  </a:lnTo>
                  <a:cubicBezTo>
                    <a:pt x="71882" y="6009259"/>
                    <a:pt x="0" y="5937377"/>
                    <a:pt x="0" y="5848731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  <a:ln w="38128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9614573" y="3872122"/>
            <a:ext cx="3222479" cy="949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Priority-aware valuation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614573" y="4916119"/>
            <a:ext cx="3222479" cy="2800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Item "value" is computed from base utility × priority weight (vulnerable population multiplier) to reflect mission goals.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9" name="Group 19"/>
          <p:cNvGrpSpPr/>
          <p:nvPr/>
        </p:nvGrpSpPr>
        <p:grpSpPr>
          <a:xfrm rot="0">
            <a:off x="13423582" y="3550244"/>
            <a:ext cx="3904336" cy="4506906"/>
            <a:chOff x="0" y="0"/>
            <a:chExt cx="5205781" cy="60092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205730" cy="6009132"/>
            </a:xfrm>
            <a:custGeom>
              <a:avLst/>
              <a:gdLst/>
              <a:ahLst/>
              <a:cxnLst/>
              <a:rect l="l" t="t" r="r" b="b"/>
              <a:pathLst>
                <a:path w="5205730" h="6009132">
                  <a:moveTo>
                    <a:pt x="0" y="160401"/>
                  </a:moveTo>
                  <a:cubicBezTo>
                    <a:pt x="0" y="71882"/>
                    <a:pt x="71882" y="0"/>
                    <a:pt x="160401" y="0"/>
                  </a:cubicBezTo>
                  <a:lnTo>
                    <a:pt x="5045329" y="0"/>
                  </a:lnTo>
                  <a:cubicBezTo>
                    <a:pt x="5133975" y="0"/>
                    <a:pt x="5205730" y="71882"/>
                    <a:pt x="5205730" y="160401"/>
                  </a:cubicBezTo>
                  <a:lnTo>
                    <a:pt x="5205730" y="5848731"/>
                  </a:lnTo>
                  <a:cubicBezTo>
                    <a:pt x="5205730" y="5937377"/>
                    <a:pt x="5133848" y="6009132"/>
                    <a:pt x="5045329" y="6009132"/>
                  </a:cubicBezTo>
                  <a:lnTo>
                    <a:pt x="160401" y="6009132"/>
                  </a:lnTo>
                  <a:cubicBezTo>
                    <a:pt x="71882" y="6009259"/>
                    <a:pt x="0" y="5937377"/>
                    <a:pt x="0" y="5848731"/>
                  </a:cubicBez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  <a:ln w="38128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13764511" y="3872122"/>
            <a:ext cx="3222479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Lightweight stack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764511" y="4450671"/>
            <a:ext cx="3222479" cy="189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Python core, Flask API for experiments, SQLite for reproducible scenarios and audit logs.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539373"/>
            <a:ext cx="16315868" cy="78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655" b="1" spc="-94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How it works — Workflow</a:t>
            </a:r>
            <a:endParaRPr lang="en-US" sz="4655" b="1" spc="-94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92991" y="3663734"/>
            <a:ext cx="7811795" cy="4137679"/>
            <a:chOff x="0" y="0"/>
            <a:chExt cx="10415727" cy="5516905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415778" cy="5516880"/>
            </a:xfrm>
            <a:custGeom>
              <a:avLst/>
              <a:gdLst/>
              <a:ahLst/>
              <a:cxnLst/>
              <a:rect l="l" t="t" r="r" b="b"/>
              <a:pathLst>
                <a:path w="10415778" h="5516880">
                  <a:moveTo>
                    <a:pt x="0" y="0"/>
                  </a:moveTo>
                  <a:lnTo>
                    <a:pt x="10415778" y="0"/>
                  </a:lnTo>
                  <a:lnTo>
                    <a:pt x="10415778" y="5516880"/>
                  </a:lnTo>
                  <a:lnTo>
                    <a:pt x="0" y="5516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7" b="-7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978019" y="6611398"/>
            <a:ext cx="2028015" cy="263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5"/>
              </a:lnSpc>
            </a:pPr>
            <a:r>
              <a:rPr lang="en-US" sz="1575" b="1" spc="-31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Define Items</a:t>
            </a:r>
            <a:endParaRPr lang="en-US" sz="1575" b="1" spc="-31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937242" y="6933581"/>
            <a:ext cx="2068792" cy="395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200" spc="-40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Upload items, weights, priorities, capacities.</a:t>
            </a:r>
            <a:endParaRPr lang="en-US" sz="1200" spc="-40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22610" y="4125954"/>
            <a:ext cx="2028015" cy="263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5"/>
              </a:lnSpc>
            </a:pPr>
            <a:r>
              <a:rPr lang="en-US" sz="1575" b="1" spc="-31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Encode Values</a:t>
            </a:r>
            <a:endParaRPr lang="en-US" sz="1575" b="1" spc="-31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81833" y="4448137"/>
            <a:ext cx="2068792" cy="395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00"/>
              </a:lnSpc>
            </a:pPr>
            <a:r>
              <a:rPr lang="en-US" sz="1200" spc="-40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Compute base utility and priority multipliers.</a:t>
            </a:r>
            <a:endParaRPr lang="en-US" sz="1200" spc="-40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817289" y="4125954"/>
            <a:ext cx="2028015" cy="263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575" b="1" spc="-31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Run Algorithms</a:t>
            </a:r>
            <a:endParaRPr lang="en-US" sz="1575" b="1" spc="-31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817289" y="4448137"/>
            <a:ext cx="2068782" cy="395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00" spc="-40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Execute 0/1 knapsack and greedy heuristics.</a:t>
            </a:r>
            <a:endParaRPr lang="en-US" sz="1200" spc="-40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46942" y="6611531"/>
            <a:ext cx="2028015" cy="263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575" b="1" spc="-31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Produce Output</a:t>
            </a:r>
            <a:endParaRPr lang="en-US" sz="1575" b="1" spc="-31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546942" y="6933714"/>
            <a:ext cx="2068792" cy="395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sz="1200" spc="-40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Generate packing list and decision trace.</a:t>
            </a:r>
            <a:endParaRPr lang="en-US" sz="1200" spc="-40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506588" y="3012567"/>
            <a:ext cx="7811795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Textual flow (user journey)</a:t>
            </a:r>
            <a:endParaRPr lang="en-US" sz="2925" b="1" spc="-58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506588" y="3704606"/>
            <a:ext cx="7811795" cy="4913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4335" lvl="1" indent="-196850" algn="l">
              <a:lnSpc>
                <a:spcPts val="3475"/>
              </a:lnSpc>
              <a:buAutoNum type="arabicPeriod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Operator uploads item list and vehicle capacities (CSV or API).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AutoNum type="arabicPeriod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System computes each item: weight, base utility, priority multiplier → final value.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AutoNum type="arabicPeriod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Run algorithms: exact DP knapsack for optimal packing when feasible; Greedy (value/weight ratio) for large instances or near-real-time needs.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94335" lvl="1" indent="-196850" algn="l">
              <a:lnSpc>
                <a:spcPts val="3475"/>
              </a:lnSpc>
              <a:buAutoNum type="arabicPeriod"/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Output: selected items, unused items, total value, capacity utilization, and step-by-step selection log for audit.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880891"/>
            <a:ext cx="16315868" cy="78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655" b="1" spc="-94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Technology &amp; Algorithms</a:t>
            </a:r>
            <a:endParaRPr lang="en-US" sz="4655" b="1" spc="-94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7" name="Freeform 7" descr="preencoded.png"/>
          <p:cNvSpPr/>
          <p:nvPr/>
        </p:nvSpPr>
        <p:spPr>
          <a:xfrm>
            <a:off x="992991" y="2231336"/>
            <a:ext cx="709260" cy="709270"/>
          </a:xfrm>
          <a:custGeom>
            <a:avLst/>
            <a:gdLst/>
            <a:ahLst/>
            <a:cxnLst/>
            <a:rect l="l" t="t" r="r" b="b"/>
            <a:pathLst>
              <a:path w="709260" h="70927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664" b="-666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92991" y="3276200"/>
            <a:ext cx="7980540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Tech stack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92991" y="3854739"/>
            <a:ext cx="7980540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Python (core algorithms), Flask (API / demo UI), SQLite (scenarios &amp; logs). Modular code for algorithm swap and reproducible tests.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" name="Freeform 10" descr="preencoded.png"/>
          <p:cNvSpPr/>
          <p:nvPr/>
        </p:nvSpPr>
        <p:spPr>
          <a:xfrm>
            <a:off x="9328156" y="2231336"/>
            <a:ext cx="709260" cy="709270"/>
          </a:xfrm>
          <a:custGeom>
            <a:avLst/>
            <a:gdLst/>
            <a:ahLst/>
            <a:cxnLst/>
            <a:rect l="l" t="t" r="r" b="b"/>
            <a:pathLst>
              <a:path w="709260" h="70927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45330" b="-4533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9328156" y="3276200"/>
            <a:ext cx="7980693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Main algorithms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328156" y="3854739"/>
            <a:ext cx="7980693" cy="189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0/1 Knapsack (dynamic programming): finds optimal subset maximizing total priority-weighted value under capacity constraint. Greedy heuristic: sort by value/weight ratio, pick until capacity.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3" name="Freeform 13" descr="preencoded.png"/>
          <p:cNvSpPr/>
          <p:nvPr/>
        </p:nvSpPr>
        <p:spPr>
          <a:xfrm>
            <a:off x="992991" y="6314351"/>
            <a:ext cx="709260" cy="709270"/>
          </a:xfrm>
          <a:custGeom>
            <a:avLst/>
            <a:gdLst/>
            <a:ahLst/>
            <a:cxnLst/>
            <a:rect l="l" t="t" r="r" b="b"/>
            <a:pathLst>
              <a:path w="709260" h="70927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18002" r="-18000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992991" y="7359215"/>
            <a:ext cx="7980540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Why chosen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92991" y="7937754"/>
            <a:ext cx="7980540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Knapsack provides provably optimal solutions for modest instance sizes; Greedy provides fast, near-optimal results at scale and is easy to explain to field teams.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" name="Freeform 16" descr="preencoded.png"/>
          <p:cNvSpPr/>
          <p:nvPr/>
        </p:nvSpPr>
        <p:spPr>
          <a:xfrm>
            <a:off x="9328156" y="6314351"/>
            <a:ext cx="709260" cy="709270"/>
          </a:xfrm>
          <a:custGeom>
            <a:avLst/>
            <a:gdLst/>
            <a:ahLst/>
            <a:cxnLst/>
            <a:rect l="l" t="t" r="r" b="b"/>
            <a:pathLst>
              <a:path w="709260" h="709270">
                <a:moveTo>
                  <a:pt x="0" y="0"/>
                </a:moveTo>
                <a:lnTo>
                  <a:pt x="709260" y="0"/>
                </a:lnTo>
                <a:lnTo>
                  <a:pt x="709260" y="709270"/>
                </a:lnTo>
                <a:lnTo>
                  <a:pt x="0" y="70927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2000" r="-2000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9328156" y="7359215"/>
            <a:ext cx="7980693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Complexity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328156" y="7937754"/>
            <a:ext cx="7980693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Knapsack DP: O(n*C) time and O(n*C) memory (n = items, C = capacity units). Greedy: O(n log n) for sorting, linear selection thereafter. Tradeoffs surfaced in the demo.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845582"/>
            <a:ext cx="16315868" cy="645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75"/>
              </a:lnSpc>
            </a:pPr>
            <a:r>
              <a:rPr lang="en-US" sz="3825" b="1" spc="-78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 Demo &amp; Comparative Results</a:t>
            </a:r>
            <a:endParaRPr lang="en-US" sz="3825" b="1" spc="-78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92991" y="1832505"/>
            <a:ext cx="16315868" cy="953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 spc="-37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    Sample scenario: 12 candidate items (weights in kg, base utility), vehicle capacity 100 kg. Priority weights applied for vulnerable zones (×1.5).     </a:t>
            </a:r>
            <a:endParaRPr lang="en-US" sz="1800" spc="-37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algn="l">
              <a:lnSpc>
                <a:spcPts val="2635"/>
              </a:lnSpc>
            </a:pPr>
            <a:r>
              <a:rPr lang="en-US" sz="1800" spc="-37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      Outputs shown: total value, capacity used, list of selected items, and per-step selection log for both algorithms so judges can inspect differences.     </a:t>
            </a:r>
            <a:endParaRPr lang="en-US" sz="1800" spc="-37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92991" y="2957332"/>
            <a:ext cx="16315868" cy="802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6390" lvl="1" indent="-163195" algn="l">
              <a:lnSpc>
                <a:spcPts val="2635"/>
              </a:lnSpc>
              <a:buFont typeface="Arial" panose="020B0604020202020204"/>
              <a:buChar char="•"/>
            </a:pPr>
            <a:r>
              <a:rPr lang="en-US" sz="1800" spc="-37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Knapsack result: higher total value, optimal selection (traceable DP table states).</a:t>
            </a:r>
            <a:endParaRPr lang="en-US" sz="1800" spc="-37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  <a:p>
            <a:pPr marL="326390" lvl="1" indent="-163195" algn="l">
              <a:lnSpc>
                <a:spcPts val="2635"/>
              </a:lnSpc>
              <a:buFont typeface="Arial" panose="020B0604020202020204"/>
              <a:buChar char="•"/>
            </a:pPr>
            <a:r>
              <a:rPr lang="en-US" sz="1800" spc="-37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Greedy result: slightly lower value but faster and deterministic; useful for rapid field decisions.</a:t>
            </a:r>
            <a:endParaRPr lang="en-US" sz="1800" spc="-37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9" name="Group 9"/>
          <p:cNvGrpSpPr/>
          <p:nvPr/>
        </p:nvGrpSpPr>
        <p:grpSpPr>
          <a:xfrm rot="0">
            <a:off x="992991" y="3979050"/>
            <a:ext cx="16315868" cy="830513"/>
            <a:chOff x="0" y="0"/>
            <a:chExt cx="21754490" cy="110735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54464" cy="1107313"/>
            </a:xfrm>
            <a:custGeom>
              <a:avLst/>
              <a:gdLst/>
              <a:ahLst/>
              <a:cxnLst/>
              <a:rect l="l" t="t" r="r" b="b"/>
              <a:pathLst>
                <a:path w="21754464" h="1107313">
                  <a:moveTo>
                    <a:pt x="0" y="131572"/>
                  </a:moveTo>
                  <a:cubicBezTo>
                    <a:pt x="0" y="58928"/>
                    <a:pt x="58928" y="0"/>
                    <a:pt x="131572" y="0"/>
                  </a:cubicBezTo>
                  <a:lnTo>
                    <a:pt x="21622893" y="0"/>
                  </a:lnTo>
                  <a:cubicBezTo>
                    <a:pt x="21695536" y="0"/>
                    <a:pt x="21754464" y="58928"/>
                    <a:pt x="21754464" y="131572"/>
                  </a:cubicBezTo>
                  <a:lnTo>
                    <a:pt x="21754464" y="975741"/>
                  </a:lnTo>
                  <a:cubicBezTo>
                    <a:pt x="21754464" y="1048385"/>
                    <a:pt x="21695536" y="1107313"/>
                    <a:pt x="21622893" y="1107313"/>
                  </a:cubicBezTo>
                  <a:lnTo>
                    <a:pt x="131572" y="1107313"/>
                  </a:lnTo>
                  <a:cubicBezTo>
                    <a:pt x="58928" y="1107313"/>
                    <a:pt x="0" y="1048385"/>
                    <a:pt x="0" y="975741"/>
                  </a:cubicBezTo>
                  <a:close/>
                </a:path>
              </a:pathLst>
            </a:custGeom>
            <a:solidFill>
              <a:srgbClr val="2F1D63"/>
            </a:solidFill>
          </p:spPr>
        </p:sp>
      </p:grpSp>
      <p:grpSp>
        <p:nvGrpSpPr>
          <p:cNvPr id="11" name="Group 11"/>
          <p:cNvGrpSpPr/>
          <p:nvPr/>
        </p:nvGrpSpPr>
        <p:grpSpPr>
          <a:xfrm rot="0">
            <a:off x="1227868" y="4255494"/>
            <a:ext cx="293713" cy="234886"/>
            <a:chOff x="0" y="0"/>
            <a:chExt cx="391617" cy="313182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391668" cy="313182"/>
            </a:xfrm>
            <a:custGeom>
              <a:avLst/>
              <a:gdLst/>
              <a:ahLst/>
              <a:cxnLst/>
              <a:rect l="l" t="t" r="r" b="b"/>
              <a:pathLst>
                <a:path w="391668" h="313182">
                  <a:moveTo>
                    <a:pt x="0" y="0"/>
                  </a:moveTo>
                  <a:lnTo>
                    <a:pt x="391668" y="0"/>
                  </a:lnTo>
                  <a:lnTo>
                    <a:pt x="391668" y="313182"/>
                  </a:lnTo>
                  <a:lnTo>
                    <a:pt x="0" y="3131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21" r="12" b="-42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756458" y="4184637"/>
            <a:ext cx="16232610" cy="39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 spc="-37">
                <a:solidFill>
                  <a:srgbClr val="FFFFFF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Demo includes CSV import, run-time timings, and downloadable decision logs for audit.</a:t>
            </a:r>
            <a:endParaRPr lang="en-US" sz="1800" spc="-37">
              <a:solidFill>
                <a:srgbClr val="FFFFFF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92991" y="5260029"/>
            <a:ext cx="8036252" cy="66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5"/>
              </a:lnSpc>
            </a:pPr>
            <a:r>
              <a:rPr lang="en-US" sz="6080" b="1" spc="-12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95%</a:t>
            </a:r>
            <a:endParaRPr lang="en-US" sz="6080" b="1" spc="-121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92991" y="6165275"/>
            <a:ext cx="8036252" cy="40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1" spc="-4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Knapsack Value</a:t>
            </a:r>
            <a:endParaRPr lang="en-US" sz="2400" b="1" spc="-4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2991" y="6638792"/>
            <a:ext cx="8036252" cy="39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1800" spc="-37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Optimal mission value achieved (example)</a:t>
            </a:r>
            <a:endParaRPr lang="en-US" sz="1800" spc="-37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272454" y="5260029"/>
            <a:ext cx="8036395" cy="66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5"/>
              </a:lnSpc>
            </a:pPr>
            <a:r>
              <a:rPr lang="en-US" sz="6080" b="1" spc="-12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88%</a:t>
            </a:r>
            <a:endParaRPr lang="en-US" sz="6080" b="1" spc="-121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272378" y="6165275"/>
            <a:ext cx="8036395" cy="40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1" spc="-4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Greedy Value</a:t>
            </a:r>
            <a:endParaRPr lang="en-US" sz="2400" b="1" spc="-4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272454" y="6638792"/>
            <a:ext cx="8036395" cy="39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1800" spc="-37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Fast heuristic result (close to optimal)</a:t>
            </a:r>
            <a:endParaRPr lang="en-US" sz="1800" spc="-37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92991" y="7650890"/>
            <a:ext cx="8036252" cy="66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5"/>
              </a:lnSpc>
            </a:pPr>
            <a:r>
              <a:rPr lang="en-US" sz="6080" b="1" spc="-12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0.02s</a:t>
            </a:r>
            <a:endParaRPr lang="en-US" sz="6080" b="1" spc="-121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92991" y="8556127"/>
            <a:ext cx="8036252" cy="40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1" spc="-4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Greedy Time</a:t>
            </a:r>
            <a:endParaRPr lang="en-US" sz="2400" b="1" spc="-4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92991" y="9029643"/>
            <a:ext cx="8036252" cy="39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1800" spc="-37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Sort + selection on sample data</a:t>
            </a:r>
            <a:endParaRPr lang="en-US" sz="1800" spc="-37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272454" y="7650890"/>
            <a:ext cx="8036395" cy="661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55"/>
              </a:lnSpc>
            </a:pPr>
            <a:r>
              <a:rPr lang="en-US" sz="6080" b="1" spc="-121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0.5s</a:t>
            </a:r>
            <a:endParaRPr lang="en-US" sz="6080" b="1" spc="-121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272378" y="8556127"/>
            <a:ext cx="8036395" cy="404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5"/>
              </a:lnSpc>
            </a:pPr>
            <a:r>
              <a:rPr lang="en-US" sz="2400" b="1" spc="-4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Knapsack Time</a:t>
            </a:r>
            <a:endParaRPr lang="en-US" sz="2400" b="1" spc="-4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272454" y="9029643"/>
            <a:ext cx="8036395" cy="391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5"/>
              </a:lnSpc>
            </a:pPr>
            <a:r>
              <a:rPr lang="en-US" sz="1800" spc="-37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DP runtime on sample instance</a:t>
            </a:r>
            <a:endParaRPr lang="en-US" sz="1800" spc="-37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991" y="1281694"/>
            <a:ext cx="16315868" cy="782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5"/>
              </a:lnSpc>
            </a:pPr>
            <a:r>
              <a:rPr lang="en-US" sz="4655" b="1" spc="-94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Future Vision &amp; Next Steps</a:t>
            </a:r>
            <a:endParaRPr lang="en-US" sz="4655" b="1" spc="-94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grpSp>
        <p:nvGrpSpPr>
          <p:cNvPr id="7" name="Group 7"/>
          <p:cNvGrpSpPr/>
          <p:nvPr/>
        </p:nvGrpSpPr>
        <p:grpSpPr>
          <a:xfrm rot="0">
            <a:off x="988219" y="2627386"/>
            <a:ext cx="8025527" cy="2593715"/>
            <a:chOff x="0" y="0"/>
            <a:chExt cx="10700702" cy="345828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00766" cy="3458337"/>
            </a:xfrm>
            <a:custGeom>
              <a:avLst/>
              <a:gdLst/>
              <a:ahLst/>
              <a:cxnLst/>
              <a:rect l="l" t="t" r="r" b="b"/>
              <a:pathLst>
                <a:path w="10700766" h="3458337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10541254" y="0"/>
                  </a:lnTo>
                  <a:cubicBezTo>
                    <a:pt x="10629392" y="0"/>
                    <a:pt x="10700766" y="71374"/>
                    <a:pt x="10700766" y="159512"/>
                  </a:cubicBezTo>
                  <a:lnTo>
                    <a:pt x="10700766" y="3298825"/>
                  </a:lnTo>
                  <a:cubicBezTo>
                    <a:pt x="10700766" y="3386963"/>
                    <a:pt x="10629392" y="3458337"/>
                    <a:pt x="10541254" y="3458337"/>
                  </a:cubicBezTo>
                  <a:lnTo>
                    <a:pt x="159512" y="3458337"/>
                  </a:lnTo>
                  <a:cubicBezTo>
                    <a:pt x="71374" y="3458337"/>
                    <a:pt x="0" y="3386836"/>
                    <a:pt x="0" y="3298825"/>
                  </a:cubicBezTo>
                  <a:close/>
                </a:path>
              </a:pathLst>
            </a:custGeom>
            <a:solidFill>
              <a:srgbClr val="2F1D63"/>
            </a:solidFill>
            <a:ln w="9532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1286256" y="2906363"/>
            <a:ext cx="7429462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Scale &amp; optimization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86256" y="3484912"/>
            <a:ext cx="7429462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Integrate branch-and-bound or meet-in-the-middle strategies for larger instances; use capacity discretization to reduce DP state space.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1" name="Group 11"/>
          <p:cNvGrpSpPr/>
          <p:nvPr/>
        </p:nvGrpSpPr>
        <p:grpSpPr>
          <a:xfrm rot="0">
            <a:off x="9287942" y="2627386"/>
            <a:ext cx="8025670" cy="2593715"/>
            <a:chOff x="0" y="0"/>
            <a:chExt cx="10700893" cy="34582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00893" cy="3458337"/>
            </a:xfrm>
            <a:custGeom>
              <a:avLst/>
              <a:gdLst/>
              <a:ahLst/>
              <a:cxnLst/>
              <a:rect l="l" t="t" r="r" b="b"/>
              <a:pathLst>
                <a:path w="10700893" h="3458337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10541381" y="0"/>
                  </a:lnTo>
                  <a:cubicBezTo>
                    <a:pt x="10629519" y="0"/>
                    <a:pt x="10700893" y="71374"/>
                    <a:pt x="10700893" y="159512"/>
                  </a:cubicBezTo>
                  <a:lnTo>
                    <a:pt x="10700893" y="3298825"/>
                  </a:lnTo>
                  <a:cubicBezTo>
                    <a:pt x="10700893" y="3386963"/>
                    <a:pt x="10629519" y="3458337"/>
                    <a:pt x="10541381" y="3458337"/>
                  </a:cubicBezTo>
                  <a:lnTo>
                    <a:pt x="159512" y="3458337"/>
                  </a:lnTo>
                  <a:cubicBezTo>
                    <a:pt x="71374" y="3458337"/>
                    <a:pt x="0" y="3386836"/>
                    <a:pt x="0" y="3298825"/>
                  </a:cubicBezTo>
                  <a:close/>
                </a:path>
              </a:pathLst>
            </a:custGeom>
            <a:solidFill>
              <a:srgbClr val="2F1D63"/>
            </a:solidFill>
            <a:ln w="9532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9585979" y="2906363"/>
            <a:ext cx="7429614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Routing integration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585979" y="3484912"/>
            <a:ext cx="7429614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Combine packing decisions with route planning (VRP variants) to maximize multi-trip efficiency and dynamic reassignment.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5" name="Group 15"/>
          <p:cNvGrpSpPr/>
          <p:nvPr/>
        </p:nvGrpSpPr>
        <p:grpSpPr>
          <a:xfrm rot="0">
            <a:off x="988219" y="5495306"/>
            <a:ext cx="8025527" cy="2593715"/>
            <a:chOff x="0" y="0"/>
            <a:chExt cx="10700702" cy="345828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00766" cy="3458337"/>
            </a:xfrm>
            <a:custGeom>
              <a:avLst/>
              <a:gdLst/>
              <a:ahLst/>
              <a:cxnLst/>
              <a:rect l="l" t="t" r="r" b="b"/>
              <a:pathLst>
                <a:path w="10700766" h="3458337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10541254" y="0"/>
                  </a:lnTo>
                  <a:cubicBezTo>
                    <a:pt x="10629392" y="0"/>
                    <a:pt x="10700766" y="71374"/>
                    <a:pt x="10700766" y="159512"/>
                  </a:cubicBezTo>
                  <a:lnTo>
                    <a:pt x="10700766" y="3298825"/>
                  </a:lnTo>
                  <a:cubicBezTo>
                    <a:pt x="10700766" y="3386963"/>
                    <a:pt x="10629392" y="3458337"/>
                    <a:pt x="10541254" y="3458337"/>
                  </a:cubicBezTo>
                  <a:lnTo>
                    <a:pt x="159512" y="3458337"/>
                  </a:lnTo>
                  <a:cubicBezTo>
                    <a:pt x="71374" y="3458337"/>
                    <a:pt x="0" y="3386836"/>
                    <a:pt x="0" y="3298825"/>
                  </a:cubicBezTo>
                  <a:close/>
                </a:path>
              </a:pathLst>
            </a:custGeom>
            <a:solidFill>
              <a:srgbClr val="2F1D63"/>
            </a:solidFill>
            <a:ln w="9532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17" name="TextBox 17"/>
          <p:cNvSpPr txBox="1"/>
          <p:nvPr/>
        </p:nvSpPr>
        <p:spPr>
          <a:xfrm>
            <a:off x="1286256" y="5774293"/>
            <a:ext cx="7429462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Operational features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86256" y="6352842"/>
            <a:ext cx="7429462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Real-time prioritization toggles, multi-vehicle coordinated loading, user-facing explanation panels, and offline-capable Flask client for field use.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pSp>
        <p:nvGrpSpPr>
          <p:cNvPr id="19" name="Group 19"/>
          <p:cNvGrpSpPr/>
          <p:nvPr/>
        </p:nvGrpSpPr>
        <p:grpSpPr>
          <a:xfrm rot="0">
            <a:off x="9287942" y="5495306"/>
            <a:ext cx="8025670" cy="2593715"/>
            <a:chOff x="0" y="0"/>
            <a:chExt cx="10700893" cy="345828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00893" cy="3458337"/>
            </a:xfrm>
            <a:custGeom>
              <a:avLst/>
              <a:gdLst/>
              <a:ahLst/>
              <a:cxnLst/>
              <a:rect l="l" t="t" r="r" b="b"/>
              <a:pathLst>
                <a:path w="10700893" h="3458337">
                  <a:moveTo>
                    <a:pt x="0" y="159512"/>
                  </a:moveTo>
                  <a:cubicBezTo>
                    <a:pt x="0" y="71374"/>
                    <a:pt x="71374" y="0"/>
                    <a:pt x="159512" y="0"/>
                  </a:cubicBezTo>
                  <a:lnTo>
                    <a:pt x="10541381" y="0"/>
                  </a:lnTo>
                  <a:cubicBezTo>
                    <a:pt x="10629519" y="0"/>
                    <a:pt x="10700893" y="71374"/>
                    <a:pt x="10700893" y="159512"/>
                  </a:cubicBezTo>
                  <a:lnTo>
                    <a:pt x="10700893" y="3298825"/>
                  </a:lnTo>
                  <a:cubicBezTo>
                    <a:pt x="10700893" y="3386963"/>
                    <a:pt x="10629519" y="3458337"/>
                    <a:pt x="10541381" y="3458337"/>
                  </a:cubicBezTo>
                  <a:lnTo>
                    <a:pt x="159512" y="3458337"/>
                  </a:lnTo>
                  <a:cubicBezTo>
                    <a:pt x="71374" y="3458337"/>
                    <a:pt x="0" y="3386836"/>
                    <a:pt x="0" y="3298825"/>
                  </a:cubicBezTo>
                  <a:close/>
                </a:path>
              </a:pathLst>
            </a:custGeom>
            <a:solidFill>
              <a:srgbClr val="2F1D63"/>
            </a:solidFill>
            <a:ln w="9532" cap="sq">
              <a:solidFill>
                <a:srgbClr val="48367C"/>
              </a:solidFill>
              <a:prstDash val="solid"/>
              <a:miter/>
            </a:ln>
          </p:spPr>
        </p:sp>
      </p:grpSp>
      <p:sp>
        <p:nvSpPr>
          <p:cNvPr id="21" name="TextBox 21"/>
          <p:cNvSpPr txBox="1"/>
          <p:nvPr/>
        </p:nvSpPr>
        <p:spPr>
          <a:xfrm>
            <a:off x="9585979" y="5774293"/>
            <a:ext cx="7429614" cy="48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5"/>
              </a:lnSpc>
            </a:pPr>
            <a:r>
              <a:rPr lang="en-US" sz="2925" b="1" spc="-58">
                <a:solidFill>
                  <a:srgbClr val="E0D6DE"/>
                </a:solidFill>
                <a:latin typeface="Petrona Bold"/>
                <a:ea typeface="Petrona Bold"/>
                <a:cs typeface="Petrona Bold"/>
                <a:sym typeface="Petrona Bold"/>
              </a:rPr>
              <a:t>Call to action</a:t>
            </a:r>
            <a:endParaRPr lang="en-US" sz="2925" b="1" spc="-58">
              <a:solidFill>
                <a:srgbClr val="E0D6DE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585979" y="6352842"/>
            <a:ext cx="7429614" cy="143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175" spc="-45">
                <a:solidFill>
                  <a:srgbClr val="E0D6DE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 can open the prototype repo, run sample scenarios, and walk judges through the DP table and greedy selection log in code and UI.</a:t>
            </a:r>
            <a:endParaRPr lang="en-US" sz="2175" spc="-45">
              <a:solidFill>
                <a:srgbClr val="E0D6DE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/>
              <a:stretch>
                <a:fillRect l="-1" r="-1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C0524">
                <a:alpha val="90196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7153473" y="4876619"/>
            <a:ext cx="3994904" cy="1008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20"/>
              </a:lnSpc>
            </a:pPr>
            <a:r>
              <a:rPr lang="en-US" sz="6425" b="1" spc="-128">
                <a:solidFill>
                  <a:srgbClr val="FF8AAF"/>
                </a:solidFill>
                <a:latin typeface="Petrona Bold"/>
                <a:ea typeface="Petrona Bold"/>
                <a:cs typeface="Petrona Bold"/>
                <a:sym typeface="Petrona Bold"/>
              </a:rPr>
              <a:t>Thank you </a:t>
            </a:r>
            <a:endParaRPr lang="en-US" sz="6425" b="1" spc="-128">
              <a:solidFill>
                <a:srgbClr val="FF8AAF"/>
              </a:solidFill>
              <a:latin typeface="Petrona Bold"/>
              <a:ea typeface="Petrona Bold"/>
              <a:cs typeface="Petrona Bold"/>
              <a:sym typeface="Petrona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4455</Words>
  <Application>WPS Presentation</Application>
  <PresentationFormat>On-screen Show (4:3)</PresentationFormat>
  <Paragraphs>146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Petrona Bold</vt:lpstr>
      <vt:lpstr>Inter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Disaster-Relief-Vehicle-Loading-Algorithmic-Prototype (1).pptx</dc:title>
  <dc:creator/>
  <cp:lastModifiedBy>bsura</cp:lastModifiedBy>
  <cp:revision>3</cp:revision>
  <dcterms:created xsi:type="dcterms:W3CDTF">2006-08-16T00:00:00Z</dcterms:created>
  <dcterms:modified xsi:type="dcterms:W3CDTF">2026-10-03T08:59:15Z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B1F8A5DCD5174C7C88DF6E89200CF256_13</vt:lpwstr>
  </property>
  <property fmtid="{D5CDD505-2E9C-101B-9397-08002B2CF9AE}" pid="3" name="KSOProductBuildVer">
    <vt:lpwstr>1033-12.1.0.28485</vt:lpwstr>
  </property>
</Properties>
</file>